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3" r:id="rId2"/>
    <p:sldId id="265" r:id="rId3"/>
    <p:sldId id="267" r:id="rId4"/>
    <p:sldId id="269" r:id="rId5"/>
    <p:sldId id="275" r:id="rId6"/>
    <p:sldId id="274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99" d="100"/>
          <a:sy n="99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78B5A-07CA-F335-B68D-9A3D82950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293E2C3-F3C1-D819-BC0F-934D4A9A6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0F9532-894A-DCB1-F9B4-C7DB746B0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41D2-BACE-6345-88D2-9860270D4A1D}" type="datetimeFigureOut">
              <a:rPr lang="de-DE" smtClean="0"/>
              <a:t>27.05.26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E0C8D9-4D1E-A262-7302-8093C8A38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DF789F-99BB-16DC-B8E4-78D618CD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557A2-16CC-D14D-AF2C-F5AF16092A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556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9127F9-BD13-6D13-9D2B-84B08985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0F18E7-0B84-1DC6-96F0-AB48F1F6D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F844C7-AD87-E69B-9E8F-E7C371C2A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41D2-BACE-6345-88D2-9860270D4A1D}" type="datetimeFigureOut">
              <a:rPr lang="de-DE" smtClean="0"/>
              <a:t>27.05.26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EAA667-056F-F7EE-31FC-C546D9A0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CAC641-015F-615E-EE4B-DC8763120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557A2-16CC-D14D-AF2C-F5AF16092A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4626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64ACD6-D487-869A-C60F-51CD26CA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5A127C-B43D-69D9-F4C1-3A626A15A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8B4DA-9022-B33A-D777-4BB63AEC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41D2-BACE-6345-88D2-9860270D4A1D}" type="datetimeFigureOut">
              <a:rPr lang="de-DE" smtClean="0"/>
              <a:t>27.05.26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9C626E-BCF7-AC6C-544C-319771295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50B8BC-BF45-FA7C-527F-B4CB77B7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557A2-16CC-D14D-AF2C-F5AF16092A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146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79FA79-8BFC-9624-DC26-1D445369F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A99EEC-04E5-39B5-3BCA-784C9B94C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31F7355-2BE4-A529-CDBE-D02B4E684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F6CD5F-F836-3F5A-3905-A930EE890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41D2-BACE-6345-88D2-9860270D4A1D}" type="datetimeFigureOut">
              <a:rPr lang="de-DE" smtClean="0"/>
              <a:t>27.05.26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DE1B12-BE46-29D0-64BE-60D4A32EC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1FDC66-AB94-E71F-BAA1-19E449D6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557A2-16CC-D14D-AF2C-F5AF16092A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1108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6ED804-0605-D2FF-6761-3C9C8E9AB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B15724-2BA0-29CD-7FAA-7E66F7011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EB26823-09F6-6079-5DF4-352422FF2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77A150-5C8D-87C8-5AF8-61DA1C27A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0840BC0-17AA-E481-BD0D-3FF26555F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68C5EC7-51CD-F697-AB60-AD51B286B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41D2-BACE-6345-88D2-9860270D4A1D}" type="datetimeFigureOut">
              <a:rPr lang="de-DE" smtClean="0"/>
              <a:t>27.05.26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0278425-34F8-0D7B-55AE-B1C7ADC32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1858B10-0C09-9865-F838-EFFA8699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557A2-16CC-D14D-AF2C-F5AF16092A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1480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B9E839-6C96-36DA-6BF7-ED905BEB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0AB9DD7-12CD-D75B-424A-8C5B60323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41D2-BACE-6345-88D2-9860270D4A1D}" type="datetimeFigureOut">
              <a:rPr lang="de-DE" smtClean="0"/>
              <a:t>27.05.26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1CA73D-4AEB-1231-2FA7-18896D4F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6CF470-038D-5B78-D4CF-E24542CFE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557A2-16CC-D14D-AF2C-F5AF16092A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618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60F946B-F1B5-E9A0-54AD-78D067703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41D2-BACE-6345-88D2-9860270D4A1D}" type="datetimeFigureOut">
              <a:rPr lang="de-DE" smtClean="0"/>
              <a:t>27.05.26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C32609-EE7E-0AFE-6D13-5ED059F05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958DF8-3ED1-C38A-1159-48C55EBF8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557A2-16CC-D14D-AF2C-F5AF16092A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7919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1EEDFE-ABE8-223F-9812-79F0356DB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9DCF5D-BC3E-5993-5430-3FBF315A7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653D4A-C7CC-0A71-A9B7-71D1C3251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E2843D-7A84-1986-28DA-2BE0EC5F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41D2-BACE-6345-88D2-9860270D4A1D}" type="datetimeFigureOut">
              <a:rPr lang="de-DE" smtClean="0"/>
              <a:t>27.05.26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372CF5-E7D1-17F1-F725-2D24CB269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EF25C1-EE25-0FA7-A260-9031B1CC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557A2-16CC-D14D-AF2C-F5AF16092A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5386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A8B91-9DB1-BCF1-9F77-5D0C53FB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9B39D0B-4483-8E00-E684-21EA3B093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84E95E-564E-B4E3-2A22-C7FDA2CF1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38E2E9-169A-29EC-3A23-4527C5E4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41D2-BACE-6345-88D2-9860270D4A1D}" type="datetimeFigureOut">
              <a:rPr lang="de-DE" smtClean="0"/>
              <a:t>27.05.26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32133C-C46B-D603-9203-8DF288797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E12DE4-8C71-7224-5615-961CE312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557A2-16CC-D14D-AF2C-F5AF16092A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422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A1E8BB-49E6-52E3-B35D-3EAD1F326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578D62-7002-CF9B-8385-C174220CB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1B4653-947F-AFD3-FFDB-B1B9112E9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41D2-BACE-6345-88D2-9860270D4A1D}" type="datetimeFigureOut">
              <a:rPr lang="de-DE" smtClean="0"/>
              <a:t>27.05.26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45740E-5E3D-015E-5703-0600431B7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86DA68-C036-A429-5441-CB1D7462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557A2-16CC-D14D-AF2C-F5AF16092A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2691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9B8AB8E-C2A8-DA31-0254-76DB9E700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B12BAD-0DAD-236F-A04A-46979E64E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805B2A-89E3-B894-A56F-2A2D145A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41D2-BACE-6345-88D2-9860270D4A1D}" type="datetimeFigureOut">
              <a:rPr lang="de-DE" smtClean="0"/>
              <a:t>27.05.26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499620-C74C-2C8F-BD21-78669A96A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D01873-D675-E5EC-AD90-E26A2E72E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557A2-16CC-D14D-AF2C-F5AF16092A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3289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F1701E2-3E90-AFA3-4B68-3215EF7D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D4B553-04AA-F4B9-A7FF-0AE37128A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FAAF8A-11CB-7FF5-C8E4-D82EC9475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241D2-BACE-6345-88D2-9860270D4A1D}" type="datetimeFigureOut">
              <a:rPr lang="de-DE" smtClean="0"/>
              <a:t>27.05.26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EF56AE-94BA-D538-23D1-4FE05ECB9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DBF6F6-5CB1-6E7E-3155-D5D229B5B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557A2-16CC-D14D-AF2C-F5AF16092AA1}" type="slidenum">
              <a:rPr lang="de-DE" smtClean="0"/>
              <a:t>‹Nr.›</a:t>
            </a:fld>
            <a:endParaRPr lang="de-DE"/>
          </a:p>
        </p:txBody>
      </p:sp>
      <p:sp>
        <p:nvSpPr>
          <p:cNvPr id="900" name="LeftAccent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Hairline"/>
          <p:cNvSpPr/>
          <p:nvPr userDrawn="1"/>
        </p:nvSpPr>
        <p:spPr>
          <a:xfrm>
            <a:off x="457200" y="6477000"/>
            <a:ext cx="8686800" cy="9525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478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7B25AA-4DC0-D99A-5077-4A04BB1689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rPr lang="de-DE" sz="4400" b="1" dirty="0">
                <a:solidFill>
                  <a:srgbClr val="0F1B2D"/>
                </a:solidFill>
              </a:rPr>
              <a:t>Container vs. virtuelle Maschinen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E179F7E-2D0D-A6F2-662F-4EF330FAA6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de-DE" sz="2400" dirty="0">
                <a:solidFill>
                  <a:srgbClr val="2E86AB"/>
                </a:solidFill>
              </a:rPr>
              <a:t>Isolationsmechanismen, Bedrohungsmodelle und Sicherheitsanalyse</a:t>
            </a:r>
          </a:p>
        </p:txBody>
      </p:sp>
      <p:sp>
        <p:nvSpPr>
          <p:cNvPr id="50" name="TitleUnderline"/>
          <p:cNvSpPr/>
          <p:nvPr/>
        </p:nvSpPr>
        <p:spPr>
          <a:xfrm>
            <a:off x="1524000" y="3429000"/>
            <a:ext cx="914400" cy="381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Footer"/>
          <p:cNvSpPr txBox="1"/>
          <p:nvPr/>
        </p:nvSpPr>
        <p:spPr>
          <a:xfrm>
            <a:off x="1524000" y="5715000"/>
            <a:ext cx="8001000" cy="381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de-DE" sz="1400" dirty="0">
                <a:solidFill>
                  <a:srgbClr val="8FA3B8"/>
                </a:solidFill>
              </a:rPr>
              <a:t>IT-Sicherheit  ·  Thema 12  ·  Gruppe X  ·  Person A, B, C, D</a:t>
            </a:r>
          </a:p>
        </p:txBody>
      </p:sp>
    </p:spTree>
    <p:extLst>
      <p:ext uri="{BB962C8B-B14F-4D97-AF65-F5344CB8AC3E}">
        <p14:creationId xmlns:p14="http://schemas.microsoft.com/office/powerpoint/2010/main" val="1240453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0CD13A-B222-48CD-0DD9-62AFECDB3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de-DE" sz="3200" b="1" dirty="0">
                <a:solidFill>
                  <a:srgbClr val="0F1B2D"/>
                </a:solidFill>
              </a:rPr>
              <a:t>Warum überhaupt Isolation?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84271F-E3FB-ABBB-5969-284F42619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ts val="2400"/>
              </a:lnSpc>
              <a:spcBef>
                <a:spcPts val="6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2000" dirty="0">
                <a:solidFill>
                  <a:srgbClr val="0F1B2D"/>
                </a:solidFill>
              </a:rPr>
              <a:t>Mehrere Workloads, eine Hardware  </a:t>
            </a:r>
            <a:r>
              <a:rPr lang="de-DE" sz="2000" b="1" dirty="0">
                <a:solidFill>
                  <a:srgbClr val="2E86AB"/>
                </a:solidFill>
              </a:rPr>
              <a:t>— wer haftet bei Ausbruch?</a:t>
            </a: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2000" b="1" dirty="0">
                <a:solidFill>
                  <a:srgbClr val="0F1B2D"/>
                </a:solidFill>
              </a:rPr>
              <a:t>Container-Bedrohungsmodell:</a:t>
            </a:r>
            <a:r>
              <a:rPr lang="de-DE" sz="2000" dirty="0">
                <a:solidFill>
                  <a:srgbClr val="0F1B2D"/>
                </a:solidFill>
              </a:rPr>
              <a:t> Angreifer hat bereits Code im Container (kompromittiertes Image, Web-App) und will Host oder Nachbarcontainer übernehmen.</a:t>
            </a: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2000" b="1" dirty="0">
                <a:solidFill>
                  <a:srgbClr val="0F1B2D"/>
                </a:solidFill>
              </a:rPr>
              <a:t>VM-Bedrohungsmodell:</a:t>
            </a:r>
            <a:r>
              <a:rPr lang="de-DE" sz="2000" dirty="0">
                <a:solidFill>
                  <a:srgbClr val="0F1B2D"/>
                </a:solidFill>
              </a:rPr>
              <a:t> Gast komplett kompromittiert (Root im Gast-Kernel) — Host und andere Gäste müssen trotzdem sicher bleiben.</a:t>
            </a: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2000" b="1" dirty="0">
                <a:solidFill>
                  <a:srgbClr val="2E86AB"/>
                </a:solidFill>
              </a:rPr>
              <a:t>Faustregel:</a:t>
            </a:r>
            <a:r>
              <a:rPr lang="de-DE" sz="2000" dirty="0">
                <a:solidFill>
                  <a:srgbClr val="0F1B2D"/>
                </a:solidFill>
              </a:rPr>
              <a:t> Container isolieren </a:t>
            </a:r>
            <a:r>
              <a:rPr lang="de-DE" sz="2000" b="1" dirty="0">
                <a:solidFill>
                  <a:srgbClr val="0F1B2D"/>
                </a:solidFill>
              </a:rPr>
              <a:t>Workloads</a:t>
            </a:r>
            <a:r>
              <a:rPr lang="de-DE" sz="2000" dirty="0">
                <a:solidFill>
                  <a:srgbClr val="0F1B2D"/>
                </a:solidFill>
              </a:rPr>
              <a:t>, VMs isolieren </a:t>
            </a:r>
            <a:r>
              <a:rPr lang="de-DE" sz="2000" b="1" dirty="0">
                <a:solidFill>
                  <a:srgbClr val="0F1B2D"/>
                </a:solidFill>
              </a:rPr>
              <a:t>Mandanten</a:t>
            </a:r>
            <a:r>
              <a:rPr lang="de-DE" sz="2000" dirty="0">
                <a:solidFill>
                  <a:srgbClr val="0F1B2D"/>
                </a:solidFill>
              </a:rPr>
              <a:t>.</a:t>
            </a:r>
          </a:p>
          <a:p>
            <a:pPr marL="571500" lvl="1" indent="-228600">
              <a:lnSpc>
                <a:spcPts val="2200"/>
              </a:lnSpc>
              <a:spcBef>
                <a:spcPts val="300"/>
              </a:spcBef>
              <a:buClr>
                <a:srgbClr val="E07A2C"/>
              </a:buClr>
              <a:buFont typeface="Arial"/>
              <a:buChar char="›"/>
            </a:pPr>
            <a:r>
              <a:rPr lang="de-DE" sz="1800" i="1" dirty="0">
                <a:solidFill>
                  <a:srgbClr val="44546A"/>
                </a:solidFill>
              </a:rPr>
              <a:t>Multi-Tenant-Public-Cloud (AWS EC2, Azure) → immer VMs</a:t>
            </a:r>
          </a:p>
        </p:txBody>
      </p:sp>
    </p:spTree>
    <p:extLst>
      <p:ext uri="{BB962C8B-B14F-4D97-AF65-F5344CB8AC3E}">
        <p14:creationId xmlns:p14="http://schemas.microsoft.com/office/powerpoint/2010/main" val="2802819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46D9A8-A218-3960-C86E-70B74002C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de-DE" sz="3200" b="1" dirty="0">
                <a:solidFill>
                  <a:srgbClr val="0F1B2D"/>
                </a:solidFill>
              </a:rPr>
              <a:t>Virtualisierungskonzepte</a:t>
            </a:r>
          </a:p>
        </p:txBody>
      </p:sp>
      <p:sp>
        <p:nvSpPr>
          <p:cNvPr id="100" name="Card1Bg"/>
          <p:cNvSpPr/>
          <p:nvPr/>
        </p:nvSpPr>
        <p:spPr>
          <a:xfrm>
            <a:off x="609600" y="1841500"/>
            <a:ext cx="5334000" cy="29845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Card1Header"/>
          <p:cNvSpPr/>
          <p:nvPr/>
        </p:nvSpPr>
        <p:spPr>
          <a:xfrm>
            <a:off x="609600" y="1841500"/>
            <a:ext cx="5334000" cy="482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Card1HeaderTxt"/>
          <p:cNvSpPr txBox="1"/>
          <p:nvPr/>
        </p:nvSpPr>
        <p:spPr>
          <a:xfrm>
            <a:off x="609600" y="1841500"/>
            <a:ext cx="5334000" cy="482600"/>
          </a:xfrm>
          <a:prstGeom prst="rect">
            <a:avLst/>
          </a:prstGeom>
          <a:noFill/>
        </p:spPr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lang="de-DE" sz="1800" b="1" dirty="0">
                <a:solidFill>
                  <a:srgbClr val="FFFFFF"/>
                </a:solidFill>
              </a:rPr>
              <a:t>Typ 1 — Bare-Metal</a:t>
            </a:r>
          </a:p>
        </p:txBody>
      </p:sp>
      <p:sp>
        <p:nvSpPr>
          <p:cNvPr id="103" name="Card1Body"/>
          <p:cNvSpPr txBox="1"/>
          <p:nvPr/>
        </p:nvSpPr>
        <p:spPr>
          <a:xfrm>
            <a:off x="762000" y="2425700"/>
            <a:ext cx="5029200" cy="2298700"/>
          </a:xfrm>
          <a:prstGeom prst="rect">
            <a:avLst/>
          </a:prstGeom>
          <a:noFill/>
        </p:spPr>
        <p:txBody>
          <a:bodyPr wrap="square" lIns="152400" tIns="101600" rIns="152400" bIns="101600" anchor="t"/>
          <a:lstStyle/>
          <a:p>
            <a:pPr marL="228600" indent="-228600">
              <a:lnSpc>
                <a:spcPts val="1900"/>
              </a:lnSpc>
              <a:spcBef>
                <a:spcPts val="3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600" dirty="0">
                <a:solidFill>
                  <a:srgbClr val="0F1B2D"/>
                </a:solidFill>
              </a:rPr>
              <a:t>Läuft direkt auf der Hardware</a:t>
            </a:r>
          </a:p>
          <a:p>
            <a:pPr marL="228600" indent="-228600">
              <a:lnSpc>
                <a:spcPts val="1900"/>
              </a:lnSpc>
              <a:spcBef>
                <a:spcPts val="3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600" b="1" dirty="0">
                <a:solidFill>
                  <a:srgbClr val="0F1B2D"/>
                </a:solidFill>
              </a:rPr>
              <a:t>Beispiele: </a:t>
            </a:r>
            <a:r>
              <a:rPr lang="de-DE" sz="1600" dirty="0">
                <a:solidFill>
                  <a:srgbClr val="0F1B2D"/>
                </a:solidFill>
              </a:rPr>
              <a:t>KVM, Xen, VMware ESXi, Hyper-V</a:t>
            </a:r>
          </a:p>
          <a:p>
            <a:pPr marL="228600" indent="-228600">
              <a:lnSpc>
                <a:spcPts val="1900"/>
              </a:lnSpc>
              <a:spcBef>
                <a:spcPts val="3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600" dirty="0">
                <a:solidFill>
                  <a:srgbClr val="0F1B2D"/>
                </a:solidFill>
              </a:rPr>
              <a:t>Hohe Performance, kleine TCB</a:t>
            </a:r>
          </a:p>
          <a:p>
            <a:pPr marL="228600" indent="-228600">
              <a:lnSpc>
                <a:spcPts val="1900"/>
              </a:lnSpc>
              <a:spcBef>
                <a:spcPts val="3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600" b="1" dirty="0">
                <a:solidFill>
                  <a:srgbClr val="5A8F3D"/>
                </a:solidFill>
              </a:rPr>
              <a:t>Produktiv-Standard</a:t>
            </a:r>
          </a:p>
        </p:txBody>
      </p:sp>
      <p:sp>
        <p:nvSpPr>
          <p:cNvPr id="110" name="Card2Bg"/>
          <p:cNvSpPr/>
          <p:nvPr/>
        </p:nvSpPr>
        <p:spPr>
          <a:xfrm>
            <a:off x="6248400" y="1841500"/>
            <a:ext cx="5334000" cy="29845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Card2Header"/>
          <p:cNvSpPr/>
          <p:nvPr/>
        </p:nvSpPr>
        <p:spPr>
          <a:xfrm>
            <a:off x="6248400" y="1841500"/>
            <a:ext cx="5334000" cy="482600"/>
          </a:xfrm>
          <a:prstGeom prst="rect">
            <a:avLst/>
          </a:prstGeom>
          <a:solidFill>
            <a:srgbClr val="8F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Card2HeaderTxt"/>
          <p:cNvSpPr txBox="1"/>
          <p:nvPr/>
        </p:nvSpPr>
        <p:spPr>
          <a:xfrm>
            <a:off x="6248400" y="1841500"/>
            <a:ext cx="5334000" cy="482600"/>
          </a:xfrm>
          <a:prstGeom prst="rect">
            <a:avLst/>
          </a:prstGeom>
          <a:noFill/>
        </p:spPr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lang="de-DE" sz="1800" b="1" dirty="0">
                <a:solidFill>
                  <a:srgbClr val="FFFFFF"/>
                </a:solidFill>
              </a:rPr>
              <a:t>Typ 2 — Hosted</a:t>
            </a:r>
          </a:p>
        </p:txBody>
      </p:sp>
      <p:sp>
        <p:nvSpPr>
          <p:cNvPr id="113" name="Card2Body"/>
          <p:cNvSpPr txBox="1"/>
          <p:nvPr/>
        </p:nvSpPr>
        <p:spPr>
          <a:xfrm>
            <a:off x="6400800" y="2425700"/>
            <a:ext cx="5029200" cy="2298700"/>
          </a:xfrm>
          <a:prstGeom prst="rect">
            <a:avLst/>
          </a:prstGeom>
          <a:noFill/>
        </p:spPr>
        <p:txBody>
          <a:bodyPr wrap="square" lIns="152400" tIns="101600" rIns="152400" bIns="101600" anchor="t"/>
          <a:lstStyle/>
          <a:p>
            <a:pPr marL="228600" indent="-228600">
              <a:lnSpc>
                <a:spcPts val="1900"/>
              </a:lnSpc>
              <a:spcBef>
                <a:spcPts val="300"/>
              </a:spcBef>
              <a:buClr>
                <a:srgbClr val="8FA3B8"/>
              </a:buClr>
              <a:buFont typeface="Arial"/>
              <a:buChar char="•"/>
            </a:pPr>
            <a:r>
              <a:rPr lang="de-DE" sz="1600" dirty="0">
                <a:solidFill>
                  <a:srgbClr val="0F1B2D"/>
                </a:solidFill>
              </a:rPr>
              <a:t>Läuft als App auf einem Host-OS</a:t>
            </a:r>
          </a:p>
          <a:p>
            <a:pPr marL="228600" indent="-228600">
              <a:lnSpc>
                <a:spcPts val="1900"/>
              </a:lnSpc>
              <a:spcBef>
                <a:spcPts val="300"/>
              </a:spcBef>
              <a:buClr>
                <a:srgbClr val="8FA3B8"/>
              </a:buClr>
              <a:buFont typeface="Arial"/>
              <a:buChar char="•"/>
            </a:pPr>
            <a:r>
              <a:rPr lang="de-DE" sz="1600" b="1" dirty="0">
                <a:solidFill>
                  <a:srgbClr val="0F1B2D"/>
                </a:solidFill>
              </a:rPr>
              <a:t>Beispiele: </a:t>
            </a:r>
            <a:r>
              <a:rPr lang="de-DE" sz="1600" dirty="0">
                <a:solidFill>
                  <a:srgbClr val="0F1B2D"/>
                </a:solidFill>
              </a:rPr>
              <a:t>VirtualBox, VMware Workstation, UTM, Parallels</a:t>
            </a:r>
          </a:p>
          <a:p>
            <a:pPr marL="228600" indent="-228600">
              <a:lnSpc>
                <a:spcPts val="1900"/>
              </a:lnSpc>
              <a:spcBef>
                <a:spcPts val="300"/>
              </a:spcBef>
              <a:buClr>
                <a:srgbClr val="8FA3B8"/>
              </a:buClr>
              <a:buFont typeface="Arial"/>
              <a:buChar char="•"/>
            </a:pPr>
            <a:r>
              <a:rPr lang="de-DE" sz="1600" dirty="0">
                <a:solidFill>
                  <a:srgbClr val="0F1B2D"/>
                </a:solidFill>
              </a:rPr>
              <a:t>Komfortabel, mehr Schichten</a:t>
            </a:r>
          </a:p>
          <a:p>
            <a:pPr marL="228600" indent="-228600">
              <a:lnSpc>
                <a:spcPts val="1900"/>
              </a:lnSpc>
              <a:spcBef>
                <a:spcPts val="300"/>
              </a:spcBef>
              <a:buClr>
                <a:srgbClr val="8FA3B8"/>
              </a:buClr>
              <a:buFont typeface="Arial"/>
              <a:buChar char="•"/>
            </a:pPr>
            <a:r>
              <a:rPr lang="de-DE" sz="1600" dirty="0">
                <a:solidFill>
                  <a:srgbClr val="0F1B2D"/>
                </a:solidFill>
              </a:rPr>
              <a:t>Entwicklung / Desktop-Einsatz</a:t>
            </a:r>
          </a:p>
        </p:txBody>
      </p:sp>
      <p:sp>
        <p:nvSpPr>
          <p:cNvPr id="120" name="BotBg"/>
          <p:cNvSpPr/>
          <p:nvPr/>
        </p:nvSpPr>
        <p:spPr>
          <a:xfrm>
            <a:off x="609600" y="5016500"/>
            <a:ext cx="10972800" cy="1143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BotHeader"/>
          <p:cNvSpPr txBox="1"/>
          <p:nvPr/>
        </p:nvSpPr>
        <p:spPr>
          <a:xfrm>
            <a:off x="762000" y="5092700"/>
            <a:ext cx="10668000" cy="304800"/>
          </a:xfrm>
          <a:prstGeom prst="rect">
            <a:avLst/>
          </a:prstGeom>
          <a:noFill/>
        </p:spPr>
        <p:txBody>
          <a:bodyPr wrap="square" lIns="152400" tIns="101600" rIns="152400" bIns="101600" anchor="t"/>
          <a:lstStyle/>
          <a:p>
            <a:pPr algn="l">
              <a:buNone/>
            </a:pPr>
            <a:r>
              <a:rPr lang="de-DE" sz="1500" b="1" dirty="0">
                <a:solidFill>
                  <a:srgbClr val="E07A2C"/>
                </a:solidFill>
              </a:rPr>
              <a:t>HARDWARE-ERWEITERUNGEN</a:t>
            </a:r>
          </a:p>
        </p:txBody>
      </p:sp>
      <p:sp>
        <p:nvSpPr>
          <p:cNvPr id="122" name="BotBody"/>
          <p:cNvSpPr txBox="1"/>
          <p:nvPr/>
        </p:nvSpPr>
        <p:spPr>
          <a:xfrm>
            <a:off x="762000" y="5422900"/>
            <a:ext cx="10668000" cy="698500"/>
          </a:xfrm>
          <a:prstGeom prst="rect">
            <a:avLst/>
          </a:prstGeom>
          <a:noFill/>
        </p:spPr>
        <p:txBody>
          <a:bodyPr wrap="square" lIns="152400" tIns="101600" rIns="152400" bIns="101600" anchor="t"/>
          <a:lstStyle/>
          <a:p>
            <a:pPr marL="228600" indent="-228600">
              <a:lnSpc>
                <a:spcPts val="1700"/>
              </a:lnSpc>
              <a:spcBef>
                <a:spcPts val="100"/>
              </a:spcBef>
              <a:buClr>
                <a:srgbClr val="E07A2C"/>
              </a:buClr>
              <a:buFont typeface="Arial"/>
              <a:buChar char="•"/>
            </a:pPr>
            <a:r>
              <a:rPr lang="de-DE" sz="1400" b="1" dirty="0">
                <a:solidFill>
                  <a:srgbClr val="FFFFFF"/>
                </a:solidFill>
              </a:rPr>
              <a:t>Intel VT-x / AMD-V:</a:t>
            </a:r>
            <a:r>
              <a:rPr lang="de-DE" sz="1400" dirty="0">
                <a:solidFill>
                  <a:srgbClr val="FFFFFF"/>
                </a:solidFill>
              </a:rPr>
              <a:t> neuer CPU-Modus („Ring −1“) — VM Exit bei privilegierten Operationen, Hypervisor übernimmt</a:t>
            </a:r>
          </a:p>
          <a:p>
            <a:pPr marL="228600" indent="-228600">
              <a:lnSpc>
                <a:spcPts val="1700"/>
              </a:lnSpc>
              <a:spcBef>
                <a:spcPts val="100"/>
              </a:spcBef>
              <a:buClr>
                <a:srgbClr val="E07A2C"/>
              </a:buClr>
              <a:buFont typeface="Arial"/>
              <a:buChar char="•"/>
            </a:pPr>
            <a:r>
              <a:rPr lang="de-DE" sz="1400" b="1" dirty="0">
                <a:solidFill>
                  <a:srgbClr val="FFFFFF"/>
                </a:solidFill>
              </a:rPr>
              <a:t>EPT / NPT:</a:t>
            </a:r>
            <a:r>
              <a:rPr lang="de-DE" sz="1400" dirty="0">
                <a:solidFill>
                  <a:srgbClr val="FFFFFF"/>
                </a:solidFill>
              </a:rPr>
              <a:t> Hardware-Speicherübersetzung Gast → Host</a:t>
            </a:r>
          </a:p>
        </p:txBody>
      </p:sp>
    </p:spTree>
    <p:extLst>
      <p:ext uri="{BB962C8B-B14F-4D97-AF65-F5344CB8AC3E}">
        <p14:creationId xmlns:p14="http://schemas.microsoft.com/office/powerpoint/2010/main" val="1525193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DC134B-B0CB-F79A-6391-C70F54D44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de-DE" sz="2800" b="1" dirty="0">
                <a:solidFill>
                  <a:srgbClr val="0F1B2D"/>
                </a:solidFill>
              </a:rPr>
              <a:t>Container = „isolierte Prozesse“ — nicht mehr, nicht weniger</a:t>
            </a:r>
          </a:p>
        </p:txBody>
      </p:sp>
      <p:sp>
        <p:nvSpPr>
          <p:cNvPr id="200" name="Col1Bg"/>
          <p:cNvSpPr/>
          <p:nvPr/>
        </p:nvSpPr>
        <p:spPr>
          <a:xfrm>
            <a:off x="609600" y="1778000"/>
            <a:ext cx="3556000" cy="4064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ol1Top"/>
          <p:cNvSpPr/>
          <p:nvPr/>
        </p:nvSpPr>
        <p:spPr>
          <a:xfrm>
            <a:off x="609600" y="1778000"/>
            <a:ext cx="3556000" cy="76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Col1Hdr"/>
          <p:cNvSpPr txBox="1"/>
          <p:nvPr/>
        </p:nvSpPr>
        <p:spPr>
          <a:xfrm>
            <a:off x="609600" y="1905000"/>
            <a:ext cx="3556000" cy="635000"/>
          </a:xfrm>
          <a:prstGeom prst="rect">
            <a:avLst/>
          </a:prstGeom>
          <a:noFill/>
        </p:spPr>
        <p:txBody>
          <a:bodyPr wrap="square" lIns="152400" tIns="101600" rIns="152400" bIns="101600" anchor="t"/>
          <a:lstStyle/>
          <a:p>
            <a:pPr algn="l">
              <a:buNone/>
            </a:pPr>
            <a:r>
              <a:rPr lang="de-DE" sz="1800" b="1" dirty="0">
                <a:solidFill>
                  <a:srgbClr val="2E86AB"/>
                </a:solidFill>
              </a:rPr>
              <a:t>Namespaces</a:t>
            </a:r>
          </a:p>
          <a:p>
            <a:pPr algn="l">
              <a:buNone/>
            </a:pPr>
            <a:r>
              <a:rPr lang="de-DE" sz="1300" i="1" dirty="0">
                <a:solidFill>
                  <a:srgbClr val="44546A"/>
                </a:solidFill>
              </a:rPr>
              <a:t>Sichtbarkeit</a:t>
            </a:r>
          </a:p>
        </p:txBody>
      </p:sp>
      <p:sp>
        <p:nvSpPr>
          <p:cNvPr id="203" name="Col1Body"/>
          <p:cNvSpPr txBox="1"/>
          <p:nvPr/>
        </p:nvSpPr>
        <p:spPr>
          <a:xfrm>
            <a:off x="660400" y="2565400"/>
            <a:ext cx="3454400" cy="3175000"/>
          </a:xfrm>
          <a:prstGeom prst="rect">
            <a:avLst/>
          </a:prstGeom>
          <a:noFill/>
        </p:spPr>
        <p:txBody>
          <a:bodyPr wrap="square" lIns="152400" tIns="101600" rIns="152400" bIns="101600" anchor="t"/>
          <a:lstStyle/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400" b="1" dirty="0">
                <a:solidFill>
                  <a:srgbClr val="0F1B2D"/>
                </a:solidFill>
              </a:rPr>
              <a:t>PID</a:t>
            </a:r>
            <a:r>
              <a:rPr lang="de-DE" sz="1400" dirty="0">
                <a:solidFill>
                  <a:srgbClr val="0F1B2D"/>
                </a:solidFill>
              </a:rPr>
              <a:t> — eigene Prozess-IDs</a:t>
            </a:r>
          </a:p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400" b="1" dirty="0">
                <a:solidFill>
                  <a:srgbClr val="0F1B2D"/>
                </a:solidFill>
              </a:rPr>
              <a:t>NET</a:t>
            </a:r>
            <a:r>
              <a:rPr lang="de-DE" sz="1400" dirty="0">
                <a:solidFill>
                  <a:srgbClr val="0F1B2D"/>
                </a:solidFill>
              </a:rPr>
              <a:t> — eigener Netzwerkstack</a:t>
            </a:r>
          </a:p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400" b="1" dirty="0">
                <a:solidFill>
                  <a:srgbClr val="0F1B2D"/>
                </a:solidFill>
              </a:rPr>
              <a:t>MNT</a:t>
            </a:r>
            <a:r>
              <a:rPr lang="de-DE" sz="1400" dirty="0">
                <a:solidFill>
                  <a:srgbClr val="0F1B2D"/>
                </a:solidFill>
              </a:rPr>
              <a:t> — eigenes Filesystem-Layout</a:t>
            </a:r>
          </a:p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400" b="1" dirty="0">
                <a:solidFill>
                  <a:srgbClr val="0F1B2D"/>
                </a:solidFill>
              </a:rPr>
              <a:t>IPC</a:t>
            </a:r>
            <a:r>
              <a:rPr lang="de-DE" sz="1400" dirty="0">
                <a:solidFill>
                  <a:srgbClr val="0F1B2D"/>
                </a:solidFill>
              </a:rPr>
              <a:t> — getrennte Shared Memory / Queues</a:t>
            </a:r>
          </a:p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400" b="1" dirty="0">
                <a:solidFill>
                  <a:srgbClr val="0F1B2D"/>
                </a:solidFill>
              </a:rPr>
              <a:t>UTS</a:t>
            </a:r>
            <a:r>
              <a:rPr lang="de-DE" sz="1400" dirty="0">
                <a:solidFill>
                  <a:srgbClr val="0F1B2D"/>
                </a:solidFill>
              </a:rPr>
              <a:t> — eigener Hostname</a:t>
            </a:r>
          </a:p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400" b="1" dirty="0">
                <a:solidFill>
                  <a:srgbClr val="0F1B2D"/>
                </a:solidFill>
              </a:rPr>
              <a:t>USER</a:t>
            </a:r>
            <a:r>
              <a:rPr lang="de-DE" sz="1400" dirty="0">
                <a:solidFill>
                  <a:srgbClr val="0F1B2D"/>
                </a:solidFill>
              </a:rPr>
              <a:t> — UID-Mapping (Container-Root ≠ Host-Root)</a:t>
            </a:r>
          </a:p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400" b="1" dirty="0">
                <a:solidFill>
                  <a:srgbClr val="0F1B2D"/>
                </a:solidFill>
              </a:rPr>
              <a:t>CGROUP, TIME</a:t>
            </a:r>
          </a:p>
        </p:txBody>
      </p:sp>
      <p:sp>
        <p:nvSpPr>
          <p:cNvPr id="210" name="Col2Bg"/>
          <p:cNvSpPr/>
          <p:nvPr/>
        </p:nvSpPr>
        <p:spPr>
          <a:xfrm>
            <a:off x="4318000" y="1778000"/>
            <a:ext cx="3556000" cy="4064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Col2Top"/>
          <p:cNvSpPr/>
          <p:nvPr/>
        </p:nvSpPr>
        <p:spPr>
          <a:xfrm>
            <a:off x="4318000" y="1778000"/>
            <a:ext cx="3556000" cy="76200"/>
          </a:xfrm>
          <a:prstGeom prst="rect">
            <a:avLst/>
          </a:prstGeom>
          <a:solidFill>
            <a:srgbClr val="5A8F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Col2Hdr"/>
          <p:cNvSpPr txBox="1"/>
          <p:nvPr/>
        </p:nvSpPr>
        <p:spPr>
          <a:xfrm>
            <a:off x="4318000" y="1905000"/>
            <a:ext cx="3556000" cy="635000"/>
          </a:xfrm>
          <a:prstGeom prst="rect">
            <a:avLst/>
          </a:prstGeom>
          <a:noFill/>
        </p:spPr>
        <p:txBody>
          <a:bodyPr wrap="square" lIns="152400" tIns="101600" rIns="152400" bIns="101600" anchor="t"/>
          <a:lstStyle/>
          <a:p>
            <a:pPr algn="l">
              <a:buNone/>
            </a:pPr>
            <a:r>
              <a:rPr lang="de-DE" sz="1800" b="1" dirty="0">
                <a:solidFill>
                  <a:srgbClr val="5A8F3D"/>
                </a:solidFill>
              </a:rPr>
              <a:t>Cgroups</a:t>
            </a:r>
          </a:p>
          <a:p>
            <a:pPr algn="l">
              <a:buNone/>
            </a:pPr>
            <a:r>
              <a:rPr lang="de-DE" sz="1300" i="1" dirty="0">
                <a:solidFill>
                  <a:srgbClr val="44546A"/>
                </a:solidFill>
              </a:rPr>
              <a:t>Ressourcen</a:t>
            </a:r>
          </a:p>
        </p:txBody>
      </p:sp>
      <p:sp>
        <p:nvSpPr>
          <p:cNvPr id="213" name="Col2Body"/>
          <p:cNvSpPr txBox="1"/>
          <p:nvPr/>
        </p:nvSpPr>
        <p:spPr>
          <a:xfrm>
            <a:off x="4368800" y="2565400"/>
            <a:ext cx="3454400" cy="3175000"/>
          </a:xfrm>
          <a:prstGeom prst="rect">
            <a:avLst/>
          </a:prstGeom>
          <a:noFill/>
        </p:spPr>
        <p:txBody>
          <a:bodyPr wrap="square" lIns="152400" tIns="101600" rIns="152400" bIns="101600" anchor="t"/>
          <a:lstStyle/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5A8F3D"/>
              </a:buClr>
              <a:buFont typeface="Arial"/>
              <a:buChar char="•"/>
            </a:pPr>
            <a:r>
              <a:rPr lang="de-DE" sz="1500" dirty="0">
                <a:solidFill>
                  <a:srgbClr val="0F1B2D"/>
                </a:solidFill>
              </a:rPr>
              <a:t>Limitieren </a:t>
            </a:r>
            <a:r>
              <a:rPr lang="de-DE" sz="1500" b="1" dirty="0">
                <a:solidFill>
                  <a:srgbClr val="0F1B2D"/>
                </a:solidFill>
              </a:rPr>
              <a:t>CPU, RAM, I/O</a:t>
            </a:r>
            <a:r>
              <a:rPr lang="de-DE" sz="1500" dirty="0">
                <a:solidFill>
                  <a:srgbClr val="0F1B2D"/>
                </a:solidFill>
              </a:rPr>
              <a:t>, Prozess-Anzahl</a:t>
            </a:r>
          </a:p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5A8F3D"/>
              </a:buClr>
              <a:buFont typeface="Arial"/>
              <a:buChar char="•"/>
            </a:pPr>
            <a:r>
              <a:rPr lang="de-DE" sz="1500" dirty="0">
                <a:solidFill>
                  <a:srgbClr val="0F1B2D"/>
                </a:solidFill>
              </a:rPr>
              <a:t>Schutz vor </a:t>
            </a:r>
            <a:r>
              <a:rPr lang="de-DE" sz="1500" b="1" dirty="0">
                <a:solidFill>
                  <a:srgbClr val="0F1B2D"/>
                </a:solidFill>
              </a:rPr>
              <a:t>Fork-Bombe</a:t>
            </a:r>
          </a:p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5A8F3D"/>
              </a:buClr>
              <a:buFont typeface="Arial"/>
              <a:buChar char="•"/>
            </a:pPr>
            <a:r>
              <a:rPr lang="de-DE" sz="1500" dirty="0">
                <a:solidFill>
                  <a:srgbClr val="0F1B2D"/>
                </a:solidFill>
              </a:rPr>
              <a:t>Schutz vor </a:t>
            </a:r>
            <a:r>
              <a:rPr lang="de-DE" sz="1500" b="1" dirty="0">
                <a:solidFill>
                  <a:srgbClr val="0F1B2D"/>
                </a:solidFill>
              </a:rPr>
              <a:t>„noisy neighbors“</a:t>
            </a:r>
          </a:p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5A8F3D"/>
              </a:buClr>
              <a:buFont typeface="Arial"/>
              <a:buChar char="•"/>
            </a:pPr>
            <a:r>
              <a:rPr lang="de-DE" sz="1500" dirty="0">
                <a:solidFill>
                  <a:srgbClr val="0F1B2D"/>
                </a:solidFill>
              </a:rPr>
              <a:t>Quota / Throttling pro Container</a:t>
            </a:r>
          </a:p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5A8F3D"/>
              </a:buClr>
              <a:buFont typeface="Arial"/>
              <a:buChar char="•"/>
            </a:pPr>
            <a:r>
              <a:rPr lang="de-DE" sz="1500" dirty="0">
                <a:solidFill>
                  <a:srgbClr val="0F1B2D"/>
                </a:solidFill>
              </a:rPr>
              <a:t>Accounting für Abrechnung &amp; Monitoring</a:t>
            </a:r>
          </a:p>
        </p:txBody>
      </p:sp>
      <p:sp>
        <p:nvSpPr>
          <p:cNvPr id="220" name="Col3Bg"/>
          <p:cNvSpPr/>
          <p:nvPr/>
        </p:nvSpPr>
        <p:spPr>
          <a:xfrm>
            <a:off x="8026400" y="1778000"/>
            <a:ext cx="3556000" cy="4064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Col3Top"/>
          <p:cNvSpPr/>
          <p:nvPr/>
        </p:nvSpPr>
        <p:spPr>
          <a:xfrm>
            <a:off x="8026400" y="1778000"/>
            <a:ext cx="3556000" cy="762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Col3Hdr"/>
          <p:cNvSpPr txBox="1"/>
          <p:nvPr/>
        </p:nvSpPr>
        <p:spPr>
          <a:xfrm>
            <a:off x="8026400" y="1905000"/>
            <a:ext cx="3556000" cy="635000"/>
          </a:xfrm>
          <a:prstGeom prst="rect">
            <a:avLst/>
          </a:prstGeom>
          <a:noFill/>
        </p:spPr>
        <p:txBody>
          <a:bodyPr wrap="square" lIns="152400" tIns="101600" rIns="152400" bIns="101600" anchor="t"/>
          <a:lstStyle/>
          <a:p>
            <a:pPr algn="l">
              <a:buNone/>
            </a:pPr>
            <a:r>
              <a:rPr lang="de-DE" sz="1800" b="1" dirty="0">
                <a:solidFill>
                  <a:srgbClr val="E07A2C"/>
                </a:solidFill>
              </a:rPr>
              <a:t>Härtungsschichten</a:t>
            </a:r>
          </a:p>
          <a:p>
            <a:pPr algn="l">
              <a:buNone/>
            </a:pPr>
            <a:r>
              <a:rPr lang="de-DE" sz="1300" i="1" dirty="0">
                <a:solidFill>
                  <a:srgbClr val="44546A"/>
                </a:solidFill>
              </a:rPr>
              <a:t>Defense in depth</a:t>
            </a:r>
          </a:p>
        </p:txBody>
      </p:sp>
      <p:sp>
        <p:nvSpPr>
          <p:cNvPr id="223" name="Col3Body"/>
          <p:cNvSpPr txBox="1"/>
          <p:nvPr/>
        </p:nvSpPr>
        <p:spPr>
          <a:xfrm>
            <a:off x="8077200" y="2565400"/>
            <a:ext cx="3454400" cy="3175000"/>
          </a:xfrm>
          <a:prstGeom prst="rect">
            <a:avLst/>
          </a:prstGeom>
          <a:noFill/>
        </p:spPr>
        <p:txBody>
          <a:bodyPr wrap="square" lIns="152400" tIns="101600" rIns="152400" bIns="101600" anchor="t"/>
          <a:lstStyle/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E07A2C"/>
              </a:buClr>
              <a:buFont typeface="Arial"/>
              <a:buChar char="•"/>
            </a:pPr>
            <a:r>
              <a:rPr lang="de-DE" sz="1500" b="1" dirty="0">
                <a:solidFill>
                  <a:srgbClr val="0F1B2D"/>
                </a:solidFill>
              </a:rPr>
              <a:t>Capabilities</a:t>
            </a:r>
            <a:r>
              <a:rPr lang="de-DE" sz="1500" dirty="0">
                <a:solidFill>
                  <a:srgbClr val="0F1B2D"/>
                </a:solidFill>
              </a:rPr>
              <a:t>: ~14 von 40 verbleiben</a:t>
            </a:r>
          </a:p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E07A2C"/>
              </a:buClr>
              <a:buFont typeface="Arial"/>
              <a:buChar char="•"/>
            </a:pPr>
            <a:r>
              <a:rPr lang="de-DE" sz="1500" b="1" dirty="0">
                <a:solidFill>
                  <a:srgbClr val="0F1B2D"/>
                </a:solidFill>
              </a:rPr>
              <a:t>Seccomp-BPF</a:t>
            </a:r>
            <a:r>
              <a:rPr lang="de-DE" sz="1500" dirty="0">
                <a:solidFill>
                  <a:srgbClr val="0F1B2D"/>
                </a:solidFill>
              </a:rPr>
              <a:t>: blockt ~60 Syscalls</a:t>
            </a:r>
          </a:p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E07A2C"/>
              </a:buClr>
              <a:buFont typeface="Arial"/>
              <a:buChar char="•"/>
            </a:pPr>
            <a:r>
              <a:rPr lang="de-DE" sz="1500" b="1" dirty="0">
                <a:solidFill>
                  <a:srgbClr val="0F1B2D"/>
                </a:solidFill>
              </a:rPr>
              <a:t>AppArmor / SELinux</a:t>
            </a:r>
            <a:r>
              <a:rPr lang="de-DE" sz="1500" dirty="0">
                <a:solidFill>
                  <a:srgbClr val="0F1B2D"/>
                </a:solidFill>
              </a:rPr>
              <a:t>: MAC-Profile</a:t>
            </a:r>
          </a:p>
          <a:p>
            <a:pPr marL="200025" indent="-200025">
              <a:lnSpc>
                <a:spcPts val="1800"/>
              </a:lnSpc>
              <a:spcBef>
                <a:spcPts val="200"/>
              </a:spcBef>
              <a:buClr>
                <a:srgbClr val="E07A2C"/>
              </a:buClr>
              <a:buFont typeface="Arial"/>
              <a:buChar char="•"/>
            </a:pPr>
            <a:r>
              <a:rPr lang="de-DE" sz="1500" dirty="0">
                <a:solidFill>
                  <a:srgbClr val="0F1B2D"/>
                </a:solidFill>
              </a:rPr>
              <a:t>Rootless-Container, Read-only FS</a:t>
            </a:r>
          </a:p>
        </p:txBody>
      </p:sp>
      <p:sp>
        <p:nvSpPr>
          <p:cNvPr id="230" name="BanBg"/>
          <p:cNvSpPr/>
          <p:nvPr/>
        </p:nvSpPr>
        <p:spPr>
          <a:xfrm>
            <a:off x="609600" y="6070600"/>
            <a:ext cx="10972800" cy="482600"/>
          </a:xfrm>
          <a:prstGeom prst="rect">
            <a:avLst/>
          </a:prstGeom>
          <a:solidFill>
            <a:srgbClr val="B23A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BanTxt"/>
          <p:cNvSpPr txBox="1"/>
          <p:nvPr/>
        </p:nvSpPr>
        <p:spPr>
          <a:xfrm>
            <a:off x="609600" y="6070600"/>
            <a:ext cx="10972800" cy="482600"/>
          </a:xfrm>
          <a:prstGeom prst="rect">
            <a:avLst/>
          </a:prstGeom>
          <a:noFill/>
        </p:spPr>
        <p:txBody>
          <a:bodyPr wrap="square" lIns="152400" tIns="101600" rIns="152400" bIns="101600" anchor="ctr"/>
          <a:lstStyle/>
          <a:p>
            <a:pPr algn="ctr">
              <a:buNone/>
            </a:pPr>
            <a:r>
              <a:rPr lang="de-DE" sz="1800" b="1" dirty="0">
                <a:solidFill>
                  <a:srgbClr val="FFFFFF"/>
                </a:solidFill>
              </a:rPr>
              <a:t>⚠  Alle Container teilen denselben Kernel!</a:t>
            </a:r>
          </a:p>
        </p:txBody>
      </p:sp>
    </p:spTree>
    <p:extLst>
      <p:ext uri="{BB962C8B-B14F-4D97-AF65-F5344CB8AC3E}">
        <p14:creationId xmlns:p14="http://schemas.microsoft.com/office/powerpoint/2010/main" val="1327573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E58780-DD82-FBE4-310F-10133344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de-DE" sz="3200" b="1" dirty="0">
                <a:solidFill>
                  <a:srgbClr val="0F1B2D"/>
                </a:solidFill>
              </a:rPr>
              <a:t>Wo liegt die Sicherheitsgrenze?</a:t>
            </a:r>
          </a:p>
        </p:txBody>
      </p:sp>
      <p:sp>
        <p:nvSpPr>
          <p:cNvPr id="300" name="LHdr"/>
          <p:cNvSpPr/>
          <p:nvPr/>
        </p:nvSpPr>
        <p:spPr>
          <a:xfrm>
            <a:off x="609600" y="1778000"/>
            <a:ext cx="2540000" cy="406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LHdrTxt"/>
          <p:cNvSpPr txBox="1"/>
          <p:nvPr/>
        </p:nvSpPr>
        <p:spPr>
          <a:xfrm>
            <a:off x="609600" y="1778000"/>
            <a:ext cx="2540000" cy="406400"/>
          </a:xfrm>
          <a:prstGeom prst="rect">
            <a:avLst/>
          </a:prstGeom>
          <a:noFill/>
        </p:spPr>
        <p:txBody>
          <a:bodyPr wrap="square" lIns="127000" tIns="76200" rIns="127000" bIns="76200" anchor="ctr"/>
          <a:lstStyle/>
          <a:p>
            <a:pPr algn="ctr">
              <a:buNone/>
            </a:pPr>
            <a:r>
              <a:rPr lang="de-DE" sz="1600" b="1" dirty="0">
                <a:solidFill>
                  <a:srgbClr val="FFFFFF"/>
                </a:solidFill>
              </a:rPr>
              <a:t>CONTAINER</a:t>
            </a:r>
          </a:p>
        </p:txBody>
      </p:sp>
      <p:sp>
        <p:nvSpPr>
          <p:cNvPr id="302" name="LBody"/>
          <p:cNvSpPr txBox="1"/>
          <p:nvPr/>
        </p:nvSpPr>
        <p:spPr>
          <a:xfrm>
            <a:off x="609600" y="2286000"/>
            <a:ext cx="4826000" cy="1651000"/>
          </a:xfrm>
          <a:prstGeom prst="rect">
            <a:avLst/>
          </a:prstGeom>
          <a:noFill/>
        </p:spPr>
        <p:txBody>
          <a:bodyPr wrap="square" lIns="127000" tIns="76200" rIns="127000" bIns="76200" anchor="t"/>
          <a:lstStyle/>
          <a:p>
            <a:pPr marL="200025" indent="-200025">
              <a:lnSpc>
                <a:spcPts val="2000"/>
              </a:lnSpc>
              <a:spcBef>
                <a:spcPts val="2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500" b="1" dirty="0">
                <a:solidFill>
                  <a:srgbClr val="0F1B2D"/>
                </a:solidFill>
              </a:rPr>
              <a:t>Vertrauensgrenze:</a:t>
            </a:r>
            <a:r>
              <a:rPr lang="de-DE" sz="1500" dirty="0">
                <a:solidFill>
                  <a:srgbClr val="0F1B2D"/>
                </a:solidFill>
              </a:rPr>
              <a:t> geteilter Linux-Kernel</a:t>
            </a:r>
          </a:p>
          <a:p>
            <a:pPr marL="200025" indent="-200025">
              <a:lnSpc>
                <a:spcPts val="2000"/>
              </a:lnSpc>
              <a:spcBef>
                <a:spcPts val="2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500" dirty="0">
                <a:solidFill>
                  <a:srgbClr val="0F1B2D"/>
                </a:solidFill>
              </a:rPr>
              <a:t>Jede </a:t>
            </a:r>
            <a:r>
              <a:rPr lang="de-DE" sz="1500" b="1" dirty="0">
                <a:solidFill>
                  <a:srgbClr val="B23A48"/>
                </a:solidFill>
              </a:rPr>
              <a:t>Kernel-Schwachstelle</a:t>
            </a:r>
            <a:r>
              <a:rPr lang="de-DE" sz="1500" dirty="0">
                <a:solidFill>
                  <a:srgbClr val="0F1B2D"/>
                </a:solidFill>
              </a:rPr>
              <a:t> = potenzieller Container-Escape</a:t>
            </a:r>
          </a:p>
          <a:p>
            <a:pPr marL="200025" indent="-200025">
              <a:lnSpc>
                <a:spcPts val="2000"/>
              </a:lnSpc>
              <a:spcBef>
                <a:spcPts val="200"/>
              </a:spcBef>
              <a:buClr>
                <a:srgbClr val="2E86AB"/>
              </a:buClr>
              <a:buFont typeface="Arial"/>
              <a:buChar char="•"/>
            </a:pPr>
            <a:r>
              <a:rPr lang="de-DE" sz="1500" b="1" dirty="0">
                <a:solidFill>
                  <a:srgbClr val="0F1B2D"/>
                </a:solidFill>
              </a:rPr>
              <a:t>TCB: ~30 Mio. LOC</a:t>
            </a:r>
          </a:p>
        </p:txBody>
      </p:sp>
      <p:sp>
        <p:nvSpPr>
          <p:cNvPr id="311" name="L-App1Border"/>
          <p:cNvSpPr/>
          <p:nvPr/>
        </p:nvSpPr>
        <p:spPr>
          <a:xfrm>
            <a:off x="762000" y="4064000"/>
            <a:ext cx="9906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3" name="L-App2Border"/>
          <p:cNvSpPr/>
          <p:nvPr/>
        </p:nvSpPr>
        <p:spPr>
          <a:xfrm>
            <a:off x="1828800" y="4064000"/>
            <a:ext cx="9906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5" name="L-App3Border"/>
          <p:cNvSpPr/>
          <p:nvPr/>
        </p:nvSpPr>
        <p:spPr>
          <a:xfrm>
            <a:off x="2895600" y="4064000"/>
            <a:ext cx="9906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6" name="L-CtrLbl"/>
          <p:cNvSpPr txBox="1"/>
          <p:nvPr/>
        </p:nvSpPr>
        <p:spPr>
          <a:xfrm>
            <a:off x="4013200" y="4140200"/>
            <a:ext cx="1143000" cy="304800"/>
          </a:xfrm>
          <a:prstGeom prst="rect">
            <a:avLst/>
          </a:prstGeom>
          <a:noFill/>
        </p:spPr>
        <p:txBody>
          <a:bodyPr wrap="square" lIns="127000" tIns="76200" rIns="127000" bIns="76200" anchor="t"/>
          <a:lstStyle/>
          <a:p>
            <a:pPr algn="l">
              <a:buNone/>
            </a:pPr>
            <a:r>
              <a:rPr lang="de-DE" sz="1100" i="1" dirty="0">
                <a:solidFill>
                  <a:srgbClr val="2E86AB"/>
                </a:solidFill>
              </a:rPr>
              <a:t>← Container</a:t>
            </a:r>
          </a:p>
        </p:txBody>
      </p:sp>
      <p:sp>
        <p:nvSpPr>
          <p:cNvPr id="320" name="L-Kernel"/>
          <p:cNvSpPr/>
          <p:nvPr/>
        </p:nvSpPr>
        <p:spPr>
          <a:xfrm>
            <a:off x="762000" y="4546600"/>
            <a:ext cx="3124200" cy="406400"/>
          </a:xfrm>
          <a:prstGeom prst="rect">
            <a:avLst/>
          </a:prstGeom>
          <a:solidFill>
            <a:srgbClr val="B23A48"/>
          </a:solidFill>
          <a:ln>
            <a:noFill/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de-DE" sz="1400" b="1" dirty="0">
                <a:solidFill>
                  <a:srgbClr val="FFFFFF"/>
                </a:solidFill>
              </a:rPr>
              <a:t>Host-Kernel  (gemeinsam)</a:t>
            </a:r>
          </a:p>
        </p:txBody>
      </p:sp>
      <p:sp>
        <p:nvSpPr>
          <p:cNvPr id="321" name="L-HW"/>
          <p:cNvSpPr/>
          <p:nvPr/>
        </p:nvSpPr>
        <p:spPr>
          <a:xfrm>
            <a:off x="762000" y="5029200"/>
            <a:ext cx="3124200" cy="381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de-DE" sz="1400" b="1" dirty="0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400" name="RHdr"/>
          <p:cNvSpPr/>
          <p:nvPr/>
        </p:nvSpPr>
        <p:spPr>
          <a:xfrm>
            <a:off x="6705600" y="1778000"/>
            <a:ext cx="2540000" cy="406400"/>
          </a:xfrm>
          <a:prstGeom prst="rect">
            <a:avLst/>
          </a:prstGeom>
          <a:solidFill>
            <a:srgbClr val="5A8F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RHdrTxt"/>
          <p:cNvSpPr txBox="1"/>
          <p:nvPr/>
        </p:nvSpPr>
        <p:spPr>
          <a:xfrm>
            <a:off x="6705600" y="1778000"/>
            <a:ext cx="2540000" cy="406400"/>
          </a:xfrm>
          <a:prstGeom prst="rect">
            <a:avLst/>
          </a:prstGeom>
          <a:noFill/>
        </p:spPr>
        <p:txBody>
          <a:bodyPr wrap="square" lIns="127000" tIns="76200" rIns="127000" bIns="76200" anchor="ctr"/>
          <a:lstStyle/>
          <a:p>
            <a:pPr algn="ctr">
              <a:buNone/>
            </a:pPr>
            <a:r>
              <a:rPr lang="de-DE" sz="1600" b="1" dirty="0">
                <a:solidFill>
                  <a:srgbClr val="FFFFFF"/>
                </a:solidFill>
              </a:rPr>
              <a:t>VIRTUELLE MASCHINE</a:t>
            </a:r>
          </a:p>
        </p:txBody>
      </p:sp>
      <p:sp>
        <p:nvSpPr>
          <p:cNvPr id="402" name="RBody"/>
          <p:cNvSpPr txBox="1"/>
          <p:nvPr/>
        </p:nvSpPr>
        <p:spPr>
          <a:xfrm>
            <a:off x="6705600" y="2286000"/>
            <a:ext cx="4826000" cy="1651000"/>
          </a:xfrm>
          <a:prstGeom prst="rect">
            <a:avLst/>
          </a:prstGeom>
          <a:noFill/>
        </p:spPr>
        <p:txBody>
          <a:bodyPr wrap="square" lIns="127000" tIns="76200" rIns="127000" bIns="76200" anchor="t"/>
          <a:lstStyle/>
          <a:p>
            <a:pPr marL="200025" indent="-200025">
              <a:lnSpc>
                <a:spcPts val="2000"/>
              </a:lnSpc>
              <a:spcBef>
                <a:spcPts val="200"/>
              </a:spcBef>
              <a:buClr>
                <a:srgbClr val="5A8F3D"/>
              </a:buClr>
              <a:buFont typeface="Arial"/>
              <a:buChar char="•"/>
            </a:pPr>
            <a:r>
              <a:rPr lang="de-DE" sz="1500" b="1" dirty="0">
                <a:solidFill>
                  <a:srgbClr val="0F1B2D"/>
                </a:solidFill>
              </a:rPr>
              <a:t>Vertrauensgrenze:</a:t>
            </a:r>
            <a:r>
              <a:rPr lang="de-DE" sz="1500" dirty="0">
                <a:solidFill>
                  <a:srgbClr val="0F1B2D"/>
                </a:solidFill>
              </a:rPr>
              <a:t> Hypervisor</a:t>
            </a:r>
          </a:p>
          <a:p>
            <a:pPr marL="200025" indent="-200025">
              <a:lnSpc>
                <a:spcPts val="2000"/>
              </a:lnSpc>
              <a:spcBef>
                <a:spcPts val="200"/>
              </a:spcBef>
              <a:buClr>
                <a:srgbClr val="5A8F3D"/>
              </a:buClr>
              <a:buFont typeface="Arial"/>
              <a:buChar char="•"/>
            </a:pPr>
            <a:r>
              <a:rPr lang="de-DE" sz="1500" dirty="0">
                <a:solidFill>
                  <a:srgbClr val="0F1B2D"/>
                </a:solidFill>
              </a:rPr>
              <a:t>Angriffsfläche: </a:t>
            </a:r>
            <a:r>
              <a:rPr lang="de-DE" sz="1500" b="1" dirty="0">
                <a:solidFill>
                  <a:srgbClr val="0F1B2D"/>
                </a:solidFill>
              </a:rPr>
              <a:t>Hypercalls + emulierte Geräte</a:t>
            </a:r>
          </a:p>
          <a:p>
            <a:pPr marL="200025" indent="-200025">
              <a:lnSpc>
                <a:spcPts val="2000"/>
              </a:lnSpc>
              <a:spcBef>
                <a:spcPts val="200"/>
              </a:spcBef>
              <a:buClr>
                <a:srgbClr val="5A8F3D"/>
              </a:buClr>
              <a:buFont typeface="Arial"/>
              <a:buChar char="•"/>
            </a:pPr>
            <a:r>
              <a:rPr lang="de-DE" sz="1500" b="1" dirty="0">
                <a:solidFill>
                  <a:srgbClr val="0F1B2D"/>
                </a:solidFill>
              </a:rPr>
              <a:t>TCB: ~100 000 LOC</a:t>
            </a:r>
            <a:r>
              <a:rPr lang="de-DE" sz="1500" dirty="0">
                <a:solidFill>
                  <a:srgbClr val="0F1B2D"/>
                </a:solidFill>
              </a:rPr>
              <a:t> (KVM Hot-Path)</a:t>
            </a:r>
          </a:p>
        </p:txBody>
      </p:sp>
      <p:sp>
        <p:nvSpPr>
          <p:cNvPr id="411" name="R-App1Border"/>
          <p:cNvSpPr/>
          <p:nvPr/>
        </p:nvSpPr>
        <p:spPr>
          <a:xfrm>
            <a:off x="6858000" y="4064000"/>
            <a:ext cx="9906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8F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3" name="R-App2Border"/>
          <p:cNvSpPr/>
          <p:nvPr/>
        </p:nvSpPr>
        <p:spPr>
          <a:xfrm>
            <a:off x="7924800" y="4064000"/>
            <a:ext cx="9906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8F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0" name="R-GuestKernel"/>
          <p:cNvSpPr/>
          <p:nvPr/>
        </p:nvSpPr>
        <p:spPr>
          <a:xfrm>
            <a:off x="6858000" y="4546600"/>
            <a:ext cx="2057400" cy="355600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de-DE" sz="1300" b="1" dirty="0">
                <a:solidFill>
                  <a:srgbClr val="0F1B2D"/>
                </a:solidFill>
              </a:rPr>
              <a:t>Gast-Kernel</a:t>
            </a:r>
          </a:p>
        </p:txBody>
      </p:sp>
      <p:sp>
        <p:nvSpPr>
          <p:cNvPr id="421" name="R-GuestLbl"/>
          <p:cNvSpPr txBox="1"/>
          <p:nvPr/>
        </p:nvSpPr>
        <p:spPr>
          <a:xfrm>
            <a:off x="8991600" y="4140200"/>
            <a:ext cx="1397000" cy="381000"/>
          </a:xfrm>
          <a:prstGeom prst="rect">
            <a:avLst/>
          </a:prstGeom>
          <a:noFill/>
        </p:spPr>
        <p:txBody>
          <a:bodyPr wrap="square" lIns="127000" tIns="76200" rIns="127000" bIns="76200" anchor="t"/>
          <a:lstStyle/>
          <a:p>
            <a:pPr algn="l">
              <a:buNone/>
            </a:pPr>
            <a:r>
              <a:rPr lang="de-DE" sz="1100" i="1" dirty="0">
                <a:solidFill>
                  <a:srgbClr val="5A8F3D"/>
                </a:solidFill>
              </a:rPr>
              <a:t>← Gast-VM</a:t>
            </a:r>
          </a:p>
        </p:txBody>
      </p:sp>
      <p:sp>
        <p:nvSpPr>
          <p:cNvPr id="430" name="R-Hyp"/>
          <p:cNvSpPr/>
          <p:nvPr/>
        </p:nvSpPr>
        <p:spPr>
          <a:xfrm>
            <a:off x="6858000" y="5003800"/>
            <a:ext cx="2057400" cy="406400"/>
          </a:xfrm>
          <a:prstGeom prst="rect">
            <a:avLst/>
          </a:prstGeom>
          <a:solidFill>
            <a:srgbClr val="B23A48"/>
          </a:solidFill>
          <a:ln>
            <a:noFill/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de-DE" sz="1400" b="1" dirty="0">
                <a:solidFill>
                  <a:srgbClr val="FFFFFF"/>
                </a:solidFill>
              </a:rPr>
              <a:t>Hypervisor</a:t>
            </a:r>
          </a:p>
        </p:txBody>
      </p:sp>
      <p:sp>
        <p:nvSpPr>
          <p:cNvPr id="431" name="R-HypLbl"/>
          <p:cNvSpPr txBox="1"/>
          <p:nvPr/>
        </p:nvSpPr>
        <p:spPr>
          <a:xfrm>
            <a:off x="8991600" y="5054600"/>
            <a:ext cx="1397000" cy="304800"/>
          </a:xfrm>
          <a:prstGeom prst="rect">
            <a:avLst/>
          </a:prstGeom>
          <a:noFill/>
        </p:spPr>
        <p:txBody>
          <a:bodyPr wrap="square" lIns="127000" tIns="76200" rIns="127000" bIns="76200" anchor="t"/>
          <a:lstStyle/>
          <a:p>
            <a:pPr algn="l">
              <a:buNone/>
            </a:pPr>
            <a:r>
              <a:rPr lang="de-DE" sz="1100" b="1" i="1" dirty="0">
                <a:solidFill>
                  <a:srgbClr val="B23A48"/>
                </a:solidFill>
              </a:rPr>
              <a:t>← TCB-Grenze</a:t>
            </a:r>
          </a:p>
        </p:txBody>
      </p:sp>
      <p:sp>
        <p:nvSpPr>
          <p:cNvPr id="440" name="R-HW"/>
          <p:cNvSpPr/>
          <p:nvPr/>
        </p:nvSpPr>
        <p:spPr>
          <a:xfrm>
            <a:off x="6858000" y="5486400"/>
            <a:ext cx="2057400" cy="355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wrap="square" lIns="76200" tIns="25400" rIns="76200" bIns="25400" anchor="ctr"/>
          <a:lstStyle/>
          <a:p>
            <a:pPr algn="ctr">
              <a:buNone/>
            </a:pPr>
            <a:r>
              <a:rPr lang="de-DE" sz="1300" b="1" dirty="0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500" name="PnBg"/>
          <p:cNvSpPr/>
          <p:nvPr/>
        </p:nvSpPr>
        <p:spPr>
          <a:xfrm>
            <a:off x="609600" y="6070600"/>
            <a:ext cx="10972800" cy="50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" name="PnTxt"/>
          <p:cNvSpPr txBox="1"/>
          <p:nvPr/>
        </p:nvSpPr>
        <p:spPr>
          <a:xfrm>
            <a:off x="609600" y="6070600"/>
            <a:ext cx="10972800" cy="508000"/>
          </a:xfrm>
          <a:prstGeom prst="rect">
            <a:avLst/>
          </a:prstGeom>
          <a:noFill/>
        </p:spPr>
        <p:txBody>
          <a:bodyPr wrap="square" lIns="127000" tIns="76200" rIns="127000" bIns="76200" anchor="ctr"/>
          <a:lstStyle/>
          <a:p>
            <a:pPr algn="ctr">
              <a:buNone/>
            </a:pPr>
            <a:r>
              <a:rPr lang="de-DE" sz="1700" b="1" dirty="0">
                <a:solidFill>
                  <a:srgbClr val="FFFFFF"/>
                </a:solidFill>
              </a:rPr>
              <a:t>Pointe: </a:t>
            </a:r>
            <a:r>
              <a:rPr lang="de-DE" sz="1700" dirty="0">
                <a:solidFill>
                  <a:srgbClr val="FFFFFF"/>
                </a:solidFill>
              </a:rPr>
              <a:t>Unterschied von </a:t>
            </a:r>
            <a:r>
              <a:rPr lang="de-DE" sz="1700" b="1" dirty="0">
                <a:solidFill>
                  <a:srgbClr val="E07A2C"/>
                </a:solidFill>
              </a:rPr>
              <a:t>2–3 Größenordnungen</a:t>
            </a:r>
            <a:r>
              <a:rPr lang="de-DE" sz="1700" dirty="0">
                <a:solidFill>
                  <a:srgbClr val="FFFFFF"/>
                </a:solidFill>
              </a:rPr>
              <a:t> in der Angriffsfläche.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739A5C5-6F84-9A49-9637-D305EED1260B}"/>
              </a:ext>
            </a:extLst>
          </p:cNvPr>
          <p:cNvSpPr/>
          <p:nvPr/>
        </p:nvSpPr>
        <p:spPr>
          <a:xfrm>
            <a:off x="762000" y="3975100"/>
            <a:ext cx="990600" cy="5588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2E86A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0F1B2D"/>
                </a:solidFill>
              </a:rPr>
              <a:t>App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3C57A0E-3661-2048-8562-131B109B3486}"/>
              </a:ext>
            </a:extLst>
          </p:cNvPr>
          <p:cNvSpPr/>
          <p:nvPr/>
        </p:nvSpPr>
        <p:spPr>
          <a:xfrm>
            <a:off x="1828800" y="3975100"/>
            <a:ext cx="990600" cy="5588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2E86A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0F1B2D"/>
                </a:solidFill>
              </a:rPr>
              <a:t>App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EFD44B2-8B6F-5C4B-8E36-941EDE05A798}"/>
              </a:ext>
            </a:extLst>
          </p:cNvPr>
          <p:cNvSpPr/>
          <p:nvPr/>
        </p:nvSpPr>
        <p:spPr>
          <a:xfrm>
            <a:off x="2895600" y="3975100"/>
            <a:ext cx="990600" cy="5588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2E86A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0F1B2D"/>
                </a:solidFill>
              </a:rPr>
              <a:t>App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1267669-F0DB-514F-A53B-D035FC2CF526}"/>
              </a:ext>
            </a:extLst>
          </p:cNvPr>
          <p:cNvSpPr/>
          <p:nvPr/>
        </p:nvSpPr>
        <p:spPr>
          <a:xfrm>
            <a:off x="6858000" y="3975100"/>
            <a:ext cx="990600" cy="5588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2E86A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0F1B2D"/>
                </a:solidFill>
              </a:rPr>
              <a:t>App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7782949-0D83-4F4A-92BD-4830DF6AED2E}"/>
              </a:ext>
            </a:extLst>
          </p:cNvPr>
          <p:cNvSpPr/>
          <p:nvPr/>
        </p:nvSpPr>
        <p:spPr>
          <a:xfrm>
            <a:off x="7924800" y="3975100"/>
            <a:ext cx="990600" cy="5588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2E86A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0F1B2D"/>
                </a:solidFill>
              </a:rPr>
              <a:t>App</a:t>
            </a:r>
          </a:p>
        </p:txBody>
      </p:sp>
    </p:spTree>
    <p:extLst>
      <p:ext uri="{BB962C8B-B14F-4D97-AF65-F5344CB8AC3E}">
        <p14:creationId xmlns:p14="http://schemas.microsoft.com/office/powerpoint/2010/main" val="1371521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9A12F1-6A80-F28D-A5B2-94D87CEEF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de-DE" sz="3200" b="1" dirty="0">
                <a:solidFill>
                  <a:schemeClr val="dk2"/>
                </a:solidFill>
              </a:rPr>
              <a:t>Container vs. VM – Isolationsgarantien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41B96AB-3CEE-B844-B109-5F520CC2B47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050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339201485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2326868151"/>
                    </a:ext>
                  </a:extLst>
                </a:gridCol>
                <a:gridCol w="3860800">
                  <a:extLst>
                    <a:ext uri="{9D8B030D-6E8A-4147-A177-3AD203B41FA5}">
                      <a16:colId xmlns:a16="http://schemas.microsoft.com/office/drawing/2014/main" val="352586954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FFFFFF"/>
                          </a:solidFill>
                          <a:latin typeface="Source Sans Pro"/>
                          <a:ea typeface="Source Sans Pro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Source Sans Pro"/>
                          <a:ea typeface="Source Sans Pro"/>
                        </a:rPr>
                        <a:t>Container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Source Sans Pro"/>
                          <a:ea typeface="Source Sans Pro"/>
                        </a:rPr>
                        <a:t>VM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8878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Isolationsgrenze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Kernel (geteilt)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Hardware via Hypervisor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5726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Boot-Zeit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Millisekunden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Sekunden bis Minuten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7047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Overhead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Hunderte MB bis 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8537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Dichte pro Host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Hunderte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Dutzende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6071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Angriffsfläche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~330 Syscalls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Hypercalls + Geräte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30164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TCB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~30 Mio. LOC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~100 k LOC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2755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de-DE" sz="1500" b="1">
                          <a:solidFill>
                            <a:srgbClr val="0F1B2D"/>
                          </a:solidFill>
                          <a:latin typeface="Source Sans Pro"/>
                          <a:ea typeface="Source Sans Pro"/>
                        </a:rPr>
                        <a:t>Multi-Tenancy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 b="1">
                          <a:solidFill>
                            <a:srgbClr val="B23A48"/>
                          </a:solidFill>
                          <a:latin typeface="Source Sans Pro"/>
                          <a:ea typeface="Source Sans Pro"/>
                        </a:rPr>
                        <a:t>unzureichend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500" b="1">
                          <a:solidFill>
                            <a:srgbClr val="5A8F3D"/>
                          </a:solidFill>
                          <a:latin typeface="Source Sans Pro"/>
                          <a:ea typeface="Source Sans Pro"/>
                        </a:rPr>
                        <a:t>Standard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508175"/>
                  </a:ext>
                </a:extLst>
              </a:tr>
            </a:tbl>
          </a:graphicData>
        </a:graphic>
      </p:graphicFrame>
      <p:sp>
        <p:nvSpPr>
          <p:cNvPr id="5" name="Handoff">
            <a:extLst>
              <a:ext uri="{FF2B5EF4-FFF2-40B4-BE49-F238E27FC236}">
                <a16:creationId xmlns:a16="http://schemas.microsoft.com/office/drawing/2014/main" id="{0C409BF3-A3CB-BE4B-BCF9-7C4D36BF8DCF}"/>
              </a:ext>
            </a:extLst>
          </p:cNvPr>
          <p:cNvSpPr txBox="1"/>
          <p:nvPr/>
        </p:nvSpPr>
        <p:spPr>
          <a:xfrm>
            <a:off x="838200" y="6070600"/>
            <a:ext cx="10515600" cy="635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buNone/>
            </a:pPr>
            <a:r>
              <a:rPr lang="de-DE" sz="1400" b="1" dirty="0">
                <a:solidFill>
                  <a:srgbClr val="2E86AB"/>
                </a:solidFill>
              </a:rPr>
              <a:t>Übergabe an Person B  →  </a:t>
            </a:r>
            <a:r>
              <a:rPr lang="de-DE" sz="1400" i="1" dirty="0">
                <a:solidFill>
                  <a:srgbClr val="0F1B2D"/>
                </a:solidFill>
              </a:rPr>
              <a:t>„Soweit die Theorie. Wie sich das in der Praxis anfühlt – derselbe Webserver einmal im Container, einmal in der VM – zeigt euch jetzt Person B."</a:t>
            </a:r>
          </a:p>
        </p:txBody>
      </p:sp>
      <p:sp>
        <p:nvSpPr>
          <p:cNvPr id="6" name="QuoteStripe">
            <a:extLst>
              <a:ext uri="{FF2B5EF4-FFF2-40B4-BE49-F238E27FC236}">
                <a16:creationId xmlns:a16="http://schemas.microsoft.com/office/drawing/2014/main" id="{57BE3CD3-FEBA-DE4F-B59E-E6A03275EE4B}"/>
              </a:ext>
            </a:extLst>
          </p:cNvPr>
          <p:cNvSpPr/>
          <p:nvPr/>
        </p:nvSpPr>
        <p:spPr>
          <a:xfrm>
            <a:off x="838200" y="6070600"/>
            <a:ext cx="50800" cy="635000"/>
          </a:xfrm>
          <a:prstGeom prst="rect">
            <a:avLst/>
          </a:prstGeom>
          <a:solidFill>
            <a:srgbClr val="2E86A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103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[1779887278082]">
  <a:themeElements>
    <a:clrScheme name="Office">
      <a:dk1>
        <a:srgbClr val="0F1B2D"/>
      </a:dk1>
      <a:lt1>
        <a:srgbClr val="FFFFFF"/>
      </a:lt1>
      <a:dk2>
        <a:srgbClr val="1B3A5C"/>
      </a:dk2>
      <a:lt2>
        <a:srgbClr val="F2F5F9"/>
      </a:lt2>
      <a:accent1>
        <a:srgbClr val="2E86AB"/>
      </a:accent1>
      <a:accent2>
        <a:srgbClr val="E07A2C"/>
      </a:accent2>
      <a:accent3>
        <a:srgbClr val="5A8F3D"/>
      </a:accent3>
      <a:accent4>
        <a:srgbClr val="B23A48"/>
      </a:accent4>
      <a:accent5>
        <a:srgbClr val="1B3A5C"/>
      </a:accent5>
      <a:accent6>
        <a:srgbClr val="8FA3B8"/>
      </a:accent6>
      <a:hlink>
        <a:srgbClr val="0563C1"/>
      </a:hlink>
      <a:folHlink>
        <a:srgbClr val="954F72"/>
      </a:folHlink>
    </a:clrScheme>
    <a:fontScheme name="Office">
      <a:majorFont>
        <a:latin typeface="Source Sans Pro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DA7135A-5862-DC44-82ED-30EF4223CF2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a68359b-1475-407f-9de0-1c19fb431a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Macintosh PowerPoint</Application>
  <PresentationFormat>Breitbild</PresentationFormat>
  <Paragraphs>96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Arial</vt:lpstr>
      <vt:lpstr>Source Sans Pro</vt:lpstr>
      <vt:lpstr>Office [1779887278082]</vt:lpstr>
      <vt:lpstr>Container vs. virtuelle Maschinen</vt:lpstr>
      <vt:lpstr>Warum überhaupt Isolation?</vt:lpstr>
      <vt:lpstr>Virtualisierungskonzepte</vt:lpstr>
      <vt:lpstr>Container = „isolierte Prozesse“ — nicht mehr, nicht weniger</vt:lpstr>
      <vt:lpstr>Wo liegt die Sicherheitsgrenze?</vt:lpstr>
      <vt:lpstr>Container vs. VM – Isolationsgarantien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Klaes</dc:creator>
  <cp:lastModifiedBy>Simon Klaes</cp:lastModifiedBy>
  <cp:revision>2</cp:revision>
  <dcterms:created xsi:type="dcterms:W3CDTF">2026-05-27T13:05:38Z</dcterms:created>
  <dcterms:modified xsi:type="dcterms:W3CDTF">2026-05-27T13:23:10Z</dcterms:modified>
</cp:coreProperties>
</file>